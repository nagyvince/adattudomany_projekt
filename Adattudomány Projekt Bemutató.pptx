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7" r:id="rId10"/>
    <p:sldId id="268" r:id="rId11"/>
    <p:sldId id="269" r:id="rId12"/>
    <p:sldId id="270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94660"/>
  </p:normalViewPr>
  <p:slideViewPr>
    <p:cSldViewPr snapToGrid="0">
      <p:cViewPr varScale="1">
        <p:scale>
          <a:sx n="65" d="100"/>
          <a:sy n="65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9E19E-AC8C-4240-A1F5-6171DC91FD73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88B8C-D630-4DEE-B095-2CE7B833293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49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célkitűzés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954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felhasznált adatok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2062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versenyeredmények </a:t>
            </a:r>
            <a:r>
              <a:rPr lang="hu-HU" dirty="0" err="1"/>
              <a:t>klaszterezése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721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Koszinusz-távolság alkalmasabb az Euklideszinél, mert a vektorok magas dimenziójúak, de ritkák, következő dia: klaszterek kiértékelése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5273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kiindulási pont keresése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0089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fő módszer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725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hogy néz ez ki ebben az esetben?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8732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a </a:t>
            </a:r>
            <a:r>
              <a:rPr lang="hu-HU" dirty="0" err="1"/>
              <a:t>mutate</a:t>
            </a:r>
            <a:r>
              <a:rPr lang="hu-HU" dirty="0"/>
              <a:t>() </a:t>
            </a:r>
            <a:r>
              <a:rPr lang="hu-HU" dirty="0" err="1"/>
              <a:t>fv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3857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Követező</a:t>
            </a:r>
            <a:r>
              <a:rPr lang="hu-HU" dirty="0"/>
              <a:t> dia: az </a:t>
            </a:r>
            <a:r>
              <a:rPr lang="hu-HU" dirty="0" err="1"/>
              <a:t>evaluate</a:t>
            </a:r>
            <a:r>
              <a:rPr lang="hu-HU" dirty="0"/>
              <a:t>() </a:t>
            </a:r>
            <a:r>
              <a:rPr lang="hu-HU" dirty="0" err="1"/>
              <a:t>fv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3657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minisim </a:t>
            </a:r>
            <a:r>
              <a:rPr lang="hu-HU" dirty="0" err="1"/>
              <a:t>evaluáció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8476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eredmények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922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Következő dia: további </a:t>
            </a:r>
            <a:r>
              <a:rPr lang="hu-HU"/>
              <a:t>fejlesztési lehetőségek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8453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utolsó dia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88B8C-D630-4DEE-B095-2CE7B833293F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270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49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913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885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721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603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968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381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901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277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163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7050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6525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3429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1523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367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133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6E16-C276-42BB-9A37-E740E6296781}" type="datetimeFigureOut">
              <a:rPr lang="hu-HU" smtClean="0"/>
              <a:t>2026. 05. 24.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275DE3-AD63-4BFA-9B39-8436AF9672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50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ylesoneill/magic-the-gathering-card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48AB34-9D37-3DD6-B281-DF6B70017E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Adattudomány Projekt Bemutató: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79A5E47-2928-906E-615B-0DEF44BC1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/>
              <a:t>MTG Pakli Optimalizálása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951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1F4BE2-18ED-32D6-CC23-7BBDC696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Célkitűzés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5EE6D6-4944-2EC8-4F1D-71052D8C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hu-HU" dirty="0"/>
              <a:t>Adott típusú pakli optimalizálása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C393272-1C50-A5EE-DA67-6F783AE1B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43003"/>
            <a:ext cx="5473511" cy="3334631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6763DCF-AD52-F594-B6CE-AA742EF36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89" y="2353456"/>
            <a:ext cx="5896131" cy="33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5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349F5B-C950-2B21-0DF0-54C5A13D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3D0759-6C5F-7F10-A772-1A0BF392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kaggle.com</a:t>
            </a:r>
            <a:r>
              <a:rPr lang="hu-HU" dirty="0"/>
              <a:t> két adathalmaza:</a:t>
            </a:r>
          </a:p>
          <a:p>
            <a:r>
              <a:rPr lang="hu-HU" dirty="0"/>
              <a:t>Általános kártyaadatbázis: </a:t>
            </a:r>
            <a:r>
              <a:rPr lang="hu-HU" dirty="0">
                <a:hlinkClick r:id="rId3"/>
              </a:rPr>
              <a:t>https://</a:t>
            </a:r>
            <a:r>
              <a:rPr lang="hu-HU" dirty="0" err="1">
                <a:hlinkClick r:id="rId3"/>
              </a:rPr>
              <a:t>www.kaggle.com</a:t>
            </a:r>
            <a:r>
              <a:rPr lang="hu-HU" dirty="0">
                <a:hlinkClick r:id="rId3"/>
              </a:rPr>
              <a:t>/</a:t>
            </a:r>
            <a:r>
              <a:rPr lang="hu-HU" dirty="0" err="1">
                <a:hlinkClick r:id="rId3"/>
              </a:rPr>
              <a:t>datasets</a:t>
            </a:r>
            <a:r>
              <a:rPr lang="hu-HU" dirty="0">
                <a:hlinkClick r:id="rId3"/>
              </a:rPr>
              <a:t>/</a:t>
            </a:r>
            <a:r>
              <a:rPr lang="hu-HU" dirty="0" err="1">
                <a:hlinkClick r:id="rId3"/>
              </a:rPr>
              <a:t>mylesoneill</a:t>
            </a:r>
            <a:r>
              <a:rPr lang="hu-HU" dirty="0">
                <a:hlinkClick r:id="rId3"/>
              </a:rPr>
              <a:t>/</a:t>
            </a:r>
            <a:r>
              <a:rPr lang="hu-HU" dirty="0" err="1">
                <a:hlinkClick r:id="rId3"/>
              </a:rPr>
              <a:t>magic-the-gathering-cards</a:t>
            </a:r>
            <a:endParaRPr lang="hu-HU" dirty="0"/>
          </a:p>
          <a:p>
            <a:r>
              <a:rPr lang="hu-HU" dirty="0"/>
              <a:t>Versenyeredmények: https://</a:t>
            </a:r>
            <a:r>
              <a:rPr lang="hu-HU" dirty="0" err="1"/>
              <a:t>www.kaggle.com</a:t>
            </a:r>
            <a:r>
              <a:rPr lang="hu-HU" dirty="0"/>
              <a:t>/</a:t>
            </a:r>
            <a:r>
              <a:rPr lang="hu-HU" dirty="0" err="1"/>
              <a:t>datasets</a:t>
            </a:r>
            <a:r>
              <a:rPr lang="hu-HU" dirty="0"/>
              <a:t>/</a:t>
            </a:r>
            <a:r>
              <a:rPr lang="hu-HU" dirty="0" err="1"/>
              <a:t>camilonunez</a:t>
            </a:r>
            <a:r>
              <a:rPr lang="hu-HU" dirty="0"/>
              <a:t>/</a:t>
            </a:r>
            <a:r>
              <a:rPr lang="hu-HU" dirty="0" err="1"/>
              <a:t>magic</a:t>
            </a:r>
            <a:r>
              <a:rPr lang="hu-HU" dirty="0"/>
              <a:t>-</a:t>
            </a:r>
            <a:r>
              <a:rPr lang="hu-HU" dirty="0" err="1"/>
              <a:t>the</a:t>
            </a:r>
            <a:r>
              <a:rPr lang="hu-HU" dirty="0"/>
              <a:t>-</a:t>
            </a:r>
            <a:r>
              <a:rPr lang="hu-HU" dirty="0" err="1"/>
              <a:t>gathering</a:t>
            </a:r>
            <a:r>
              <a:rPr lang="hu-HU" dirty="0"/>
              <a:t>-</a:t>
            </a:r>
            <a:r>
              <a:rPr lang="hu-HU" dirty="0" err="1"/>
              <a:t>top8</a:t>
            </a:r>
            <a:r>
              <a:rPr lang="hu-HU" dirty="0"/>
              <a:t>-</a:t>
            </a:r>
            <a:r>
              <a:rPr lang="hu-HU" dirty="0" err="1"/>
              <a:t>some</a:t>
            </a:r>
            <a:r>
              <a:rPr lang="hu-HU" dirty="0"/>
              <a:t>-</a:t>
            </a:r>
            <a:r>
              <a:rPr lang="hu-HU" dirty="0" err="1"/>
              <a:t>decks</a:t>
            </a:r>
            <a:r>
              <a:rPr lang="hu-HU" dirty="0"/>
              <a:t>-and-</a:t>
            </a:r>
            <a:r>
              <a:rPr lang="hu-HU" dirty="0" err="1"/>
              <a:t>events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1879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B310E4-573C-9406-1086-D8B67A94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886000" cy="1320800"/>
          </a:xfrm>
        </p:spPr>
        <p:txBody>
          <a:bodyPr/>
          <a:lstStyle/>
          <a:p>
            <a:r>
              <a:rPr lang="hu-HU" dirty="0"/>
              <a:t>Versenyeredmények </a:t>
            </a:r>
            <a:r>
              <a:rPr lang="hu-HU" dirty="0" err="1"/>
              <a:t>klaszterezése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CA8F0A-B35D-5B39-51E9-BE8B45ED1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307621" cy="4393597"/>
          </a:xfrm>
        </p:spPr>
        <p:txBody>
          <a:bodyPr>
            <a:normAutofit/>
          </a:bodyPr>
          <a:lstStyle/>
          <a:p>
            <a:r>
              <a:rPr lang="hu-HU" dirty="0"/>
              <a:t>Első lépésként, a keresési tér feltérképezése érdekében </a:t>
            </a:r>
            <a:r>
              <a:rPr lang="hu-HU" dirty="0" err="1"/>
              <a:t>klaszterezzük</a:t>
            </a:r>
            <a:r>
              <a:rPr lang="hu-HU" dirty="0"/>
              <a:t> a versenyeken játszott paklikat</a:t>
            </a:r>
          </a:p>
          <a:p>
            <a:r>
              <a:rPr lang="hu-HU" dirty="0"/>
              <a:t>Ehhez </a:t>
            </a:r>
            <a:r>
              <a:rPr lang="hu-HU" dirty="0" err="1"/>
              <a:t>DBSCAN</a:t>
            </a:r>
            <a:r>
              <a:rPr lang="hu-HU" dirty="0"/>
              <a:t> módszert használunk</a:t>
            </a:r>
          </a:p>
          <a:p>
            <a:r>
              <a:rPr lang="hu-HU" dirty="0"/>
              <a:t>A paklik távolságának meghatározása több módon is történhet…</a:t>
            </a:r>
          </a:p>
          <a:p>
            <a:r>
              <a:rPr lang="hu-HU" dirty="0"/>
              <a:t>A </a:t>
            </a:r>
            <a:r>
              <a:rPr lang="hu-HU" dirty="0" err="1"/>
              <a:t>min_dist</a:t>
            </a:r>
            <a:r>
              <a:rPr lang="hu-HU" dirty="0"/>
              <a:t> távolságparaméter kiszámításához </a:t>
            </a:r>
            <a:r>
              <a:rPr lang="hu-HU" dirty="0" err="1"/>
              <a:t>plotoljuk</a:t>
            </a:r>
            <a:r>
              <a:rPr lang="hu-HU" dirty="0"/>
              <a:t> a ponttávolságokat</a:t>
            </a:r>
          </a:p>
          <a:p>
            <a:r>
              <a:rPr lang="hu-HU" dirty="0"/>
              <a:t>És futtatjuk a </a:t>
            </a:r>
            <a:r>
              <a:rPr lang="hu-HU" dirty="0" err="1"/>
              <a:t>DBSCAN</a:t>
            </a:r>
            <a:r>
              <a:rPr lang="hu-HU" dirty="0"/>
              <a:t>-t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471CB7D-4A69-AD74-DF1E-454C373E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60" y="3229497"/>
            <a:ext cx="4115374" cy="332468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08E6166-CAC9-1350-AC24-0F76EC886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947" y="303814"/>
            <a:ext cx="4607943" cy="351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5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B8822F-5266-68F4-AFD3-8AC8012B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Klaszterek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F47CA5-54CE-D6F8-D550-6FB75251C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19932"/>
            <a:ext cx="7286795" cy="551475"/>
          </a:xfrm>
        </p:spPr>
        <p:txBody>
          <a:bodyPr>
            <a:normAutofit/>
          </a:bodyPr>
          <a:lstStyle/>
          <a:p>
            <a:r>
              <a:rPr lang="hu-HU" dirty="0"/>
              <a:t>Közelebbről megnézve a klasztereket, látható, hogy értelmesek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706AF2D-5652-8DE7-C906-4E254425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1775000"/>
            <a:ext cx="3991532" cy="490606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F66E2D8-E22F-29CF-6CE7-B98B5897B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775000"/>
            <a:ext cx="3991532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6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6CE9FF-CEE4-F547-B12E-B41E7320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Kiindulási pont keresése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65010B-B02A-9F96-A663-A250C8CA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334227" cy="3880773"/>
          </a:xfrm>
        </p:spPr>
        <p:txBody>
          <a:bodyPr/>
          <a:lstStyle/>
          <a:p>
            <a:r>
              <a:rPr lang="hu-HU" dirty="0" err="1"/>
              <a:t>Medoid</a:t>
            </a:r>
            <a:r>
              <a:rPr lang="hu-HU" dirty="0"/>
              <a:t> pakli = legközelebb van a többihez</a:t>
            </a:r>
          </a:p>
          <a:p>
            <a:r>
              <a:rPr lang="hu-HU" dirty="0"/>
              <a:t>Ez lesz a kiindulási pont a javító algoritmusnak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9282100-260C-CF92-28F9-355BE95C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889" y="1443920"/>
            <a:ext cx="6620419" cy="49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5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612FB3-B5D1-B4D8-A4E2-00383995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módszer: </a:t>
            </a:r>
            <a:r>
              <a:rPr lang="hu-HU" dirty="0" err="1"/>
              <a:t>Simulated</a:t>
            </a:r>
            <a:r>
              <a:rPr lang="hu-HU" dirty="0"/>
              <a:t> </a:t>
            </a:r>
            <a:r>
              <a:rPr lang="hu-HU" dirty="0" err="1"/>
              <a:t>Annealing</a:t>
            </a:r>
            <a:endParaRPr lang="hu-HU" dirty="0"/>
          </a:p>
        </p:txBody>
      </p:sp>
      <p:pic>
        <p:nvPicPr>
          <p:cNvPr id="1026" name="Picture 2" descr="constraint satisfaction - Help with understanding Simulated Annealing  algorithm - Computer Science Stack Exchange">
            <a:extLst>
              <a:ext uri="{FF2B5EF4-FFF2-40B4-BE49-F238E27FC236}">
                <a16:creationId xmlns:a16="http://schemas.microsoft.com/office/drawing/2014/main" id="{7358FA40-72EE-F015-F4EB-3C89A7632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29" y="1270000"/>
            <a:ext cx="9363075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59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368436-4F47-2CE6-22AA-0DECA53E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 néz ki ez ebben az esetben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826A89-80B2-06A6-8D2A-50FB46A8E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7345789" cy="4594172"/>
          </a:xfrm>
        </p:spPr>
        <p:txBody>
          <a:bodyPr/>
          <a:lstStyle/>
          <a:p>
            <a:r>
              <a:rPr lang="hu-HU" sz="2000" dirty="0"/>
              <a:t>A folyamat implementálása:</a:t>
            </a:r>
          </a:p>
          <a:p>
            <a:r>
              <a:rPr lang="hu-HU" sz="2000" dirty="0"/>
              <a:t>Kiindulunk a korábban meghatározott pakliból</a:t>
            </a:r>
          </a:p>
          <a:p>
            <a:r>
              <a:rPr lang="hu-HU" sz="2000" dirty="0"/>
              <a:t>Apró változtatást eszközölünk (</a:t>
            </a:r>
            <a:r>
              <a:rPr lang="hu-HU" sz="2000" dirty="0" err="1"/>
              <a:t>mutate</a:t>
            </a:r>
            <a:r>
              <a:rPr lang="hu-HU" sz="2000" dirty="0"/>
              <a:t>)</a:t>
            </a:r>
          </a:p>
          <a:p>
            <a:r>
              <a:rPr lang="hu-HU" sz="2000" dirty="0"/>
              <a:t>Kiértékeljük az új paklit (</a:t>
            </a:r>
            <a:r>
              <a:rPr lang="hu-HU" sz="2000" dirty="0" err="1"/>
              <a:t>evaluate</a:t>
            </a:r>
            <a:r>
              <a:rPr lang="hu-HU" sz="2000" dirty="0"/>
              <a:t>)</a:t>
            </a:r>
          </a:p>
          <a:p>
            <a:r>
              <a:rPr lang="hu-HU" sz="2000" dirty="0"/>
              <a:t>Összevetjük az új értéket a korábbival, és ha jobb, megtartjuk a változtatást</a:t>
            </a:r>
          </a:p>
          <a:p>
            <a:r>
              <a:rPr lang="hu-HU" sz="2000" dirty="0"/>
              <a:t>Illetve, ha rosszabb is, akkor is valamekkora eséllyel megtartjuk, hogy ne zárjuk el magunkat a későbbi esetleges javítás elől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2561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41890C-F817-141C-2F6E-0E771D20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mutate</a:t>
            </a:r>
            <a:r>
              <a:rPr lang="hu-HU" dirty="0"/>
              <a:t>() függvény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F23440-2C9A-6F62-F63F-EA09585A1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65143" cy="3880773"/>
          </a:xfrm>
        </p:spPr>
        <p:txBody>
          <a:bodyPr/>
          <a:lstStyle/>
          <a:p>
            <a:r>
              <a:rPr lang="hu-HU" dirty="0"/>
              <a:t>Ez az a pont, ahol a legtöbbet segít a játék ismerete:</a:t>
            </a:r>
          </a:p>
          <a:p>
            <a:pPr lvl="1"/>
            <a:r>
              <a:rPr lang="hu-HU" dirty="0"/>
              <a:t>Hogyan ismerjünk fel rosszul teljesítő lapokat, amiket ki lehet venni?</a:t>
            </a:r>
          </a:p>
          <a:p>
            <a:pPr lvl="1"/>
            <a:r>
              <a:rPr lang="hu-HU" dirty="0"/>
              <a:t>A temérdek lap közül melyiket vegyük be?</a:t>
            </a:r>
          </a:p>
          <a:p>
            <a:r>
              <a:rPr lang="hu-HU" dirty="0"/>
              <a:t>Számtalan heurisztikát ki lehet találni.</a:t>
            </a:r>
          </a:p>
          <a:p>
            <a:r>
              <a:rPr lang="hu-HU" dirty="0"/>
              <a:t>Jelen változat kivesz egy véletlenszerű kártyát a pakliból, és egy „hasonló” kártyára cseréli az eredetivel megegyező klaszterben lévő paklik között népszerű lapok közül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495FD69-904A-A7CE-2BAA-D1F9761F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477" y="185609"/>
            <a:ext cx="5211987" cy="648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7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9BF757-96C0-0EB0-DE1C-5ACD4734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evaluate</a:t>
            </a:r>
            <a:r>
              <a:rPr lang="hu-HU" dirty="0"/>
              <a:t>() függvény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9BEA9E22-5E22-21B3-6DA0-A0B0EDA0C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112" y="4368864"/>
            <a:ext cx="2863233" cy="21474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D2D33A2-F968-E42E-8809-4CEEE2B23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85095"/>
            <a:ext cx="5367864" cy="1320800"/>
          </a:xfrm>
          <a:prstGeom prst="rect">
            <a:avLst/>
          </a:prstGeom>
        </p:spPr>
      </p:pic>
      <p:sp>
        <p:nvSpPr>
          <p:cNvPr id="10" name="Tartalom helye 2">
            <a:extLst>
              <a:ext uri="{FF2B5EF4-FFF2-40B4-BE49-F238E27FC236}">
                <a16:creationId xmlns:a16="http://schemas.microsoft.com/office/drawing/2014/main" id="{7451D190-1854-5B51-AB5D-184419B093CB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460258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A </a:t>
            </a:r>
            <a:r>
              <a:rPr lang="hu-HU" dirty="0" err="1"/>
              <a:t>Forge</a:t>
            </a:r>
            <a:r>
              <a:rPr lang="hu-HU" dirty="0"/>
              <a:t> nevű Open </a:t>
            </a:r>
            <a:r>
              <a:rPr lang="hu-HU" dirty="0" err="1"/>
              <a:t>Source</a:t>
            </a:r>
            <a:r>
              <a:rPr lang="hu-HU" dirty="0"/>
              <a:t> programot használjuk, ami képes </a:t>
            </a:r>
            <a:r>
              <a:rPr lang="hu-HU" dirty="0" err="1"/>
              <a:t>AI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AI</a:t>
            </a:r>
            <a:r>
              <a:rPr lang="hu-HU" dirty="0"/>
              <a:t> meccseket játszani külsőleg megadott paklikkal</a:t>
            </a:r>
          </a:p>
          <a:p>
            <a:r>
              <a:rPr lang="hu-HU" dirty="0"/>
              <a:t>Sajnos lassú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190357C-5B56-E725-726D-5A0B66780C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659" y="2949024"/>
            <a:ext cx="6341806" cy="356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8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0C3C55-FC4C-CFC6-6F79-BDADA4F7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Minisim </a:t>
            </a:r>
            <a:r>
              <a:rPr lang="hu-HU" dirty="0" err="1"/>
              <a:t>evaluáció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CFDAC8-EC35-9345-ED6B-4BBC51D6C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036072" cy="3880773"/>
          </a:xfrm>
        </p:spPr>
        <p:txBody>
          <a:bodyPr>
            <a:normAutofit/>
          </a:bodyPr>
          <a:lstStyle/>
          <a:p>
            <a:r>
              <a:rPr lang="hu-HU" sz="2000" dirty="0"/>
              <a:t>A </a:t>
            </a:r>
            <a:r>
              <a:rPr lang="hu-HU" sz="2000" dirty="0" err="1"/>
              <a:t>Forge</a:t>
            </a:r>
            <a:r>
              <a:rPr lang="hu-HU" sz="2000" dirty="0"/>
              <a:t> megkerülése érdekében emellett egy kizárólag </a:t>
            </a:r>
            <a:r>
              <a:rPr lang="hu-HU" sz="2000" dirty="0" err="1"/>
              <a:t>pythonon</a:t>
            </a:r>
            <a:r>
              <a:rPr lang="hu-HU" sz="2000" dirty="0"/>
              <a:t> belüli szimulációs környezetet is használunk</a:t>
            </a:r>
          </a:p>
          <a:p>
            <a:r>
              <a:rPr lang="hu-HU" sz="2000" dirty="0"/>
              <a:t>Ez csak a játék legprimitívebb funkcióit képes modellezni</a:t>
            </a:r>
          </a:p>
          <a:p>
            <a:r>
              <a:rPr lang="hu-HU" sz="2000" dirty="0"/>
              <a:t>Éppen ezért nem olyan pontos, mint a </a:t>
            </a:r>
            <a:r>
              <a:rPr lang="hu-HU" sz="2000" dirty="0" err="1"/>
              <a:t>Forge</a:t>
            </a:r>
            <a:endParaRPr lang="hu-HU" sz="2000" dirty="0"/>
          </a:p>
          <a:p>
            <a:r>
              <a:rPr lang="hu-HU" sz="2000" dirty="0"/>
              <a:t>Azonban rendkívül gyors</a:t>
            </a:r>
          </a:p>
        </p:txBody>
      </p:sp>
    </p:spTree>
    <p:extLst>
      <p:ext uri="{BB962C8B-B14F-4D97-AF65-F5344CB8AC3E}">
        <p14:creationId xmlns:p14="http://schemas.microsoft.com/office/powerpoint/2010/main" val="239100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F78A43-ACEC-939E-9EAD-D2E720B1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0881F5-2656-B0AF-C00D-14142BA0E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867" y="5330411"/>
            <a:ext cx="8746887" cy="1527589"/>
          </a:xfrm>
        </p:spPr>
        <p:txBody>
          <a:bodyPr>
            <a:normAutofit/>
          </a:bodyPr>
          <a:lstStyle/>
          <a:p>
            <a:r>
              <a:rPr lang="hu-HU" dirty="0"/>
              <a:t>Elért </a:t>
            </a:r>
            <a:r>
              <a:rPr lang="hu-HU" dirty="0" err="1"/>
              <a:t>score</a:t>
            </a:r>
            <a:r>
              <a:rPr lang="hu-HU" dirty="0"/>
              <a:t> változása, először a </a:t>
            </a:r>
            <a:r>
              <a:rPr lang="hu-HU" dirty="0" err="1"/>
              <a:t>mediod</a:t>
            </a:r>
            <a:r>
              <a:rPr lang="hu-HU" dirty="0"/>
              <a:t> pakliból kiindulva, azután az első folyamat eredménypaklijával elindítva még egyszer a ciklust</a:t>
            </a:r>
          </a:p>
          <a:p>
            <a:r>
              <a:rPr lang="hu-HU" dirty="0"/>
              <a:t>Elsőben az eredmény kb. az elvárt: elején sok „kísérletezés”, aztán javulás</a:t>
            </a:r>
          </a:p>
          <a:p>
            <a:r>
              <a:rPr lang="hu-HU" dirty="0"/>
              <a:t>Látszik, hogy a másodikban (200 lépés után) már nehezen talál további javítást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6BBDCD3C-C4E1-8722-3E8E-F57290EE4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70000"/>
            <a:ext cx="5266954" cy="416052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77CFC189-777E-D818-86FD-1B5FD050B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714" y="1270000"/>
            <a:ext cx="526695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0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A78639-C020-1304-1026-CAF1F8CD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További 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E3AA10-5E72-F97B-C5D7-39BCEC25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4941801" cy="4343450"/>
          </a:xfrm>
        </p:spPr>
        <p:txBody>
          <a:bodyPr>
            <a:normAutofit/>
          </a:bodyPr>
          <a:lstStyle/>
          <a:p>
            <a:r>
              <a:rPr lang="hu-HU" sz="2000" dirty="0"/>
              <a:t>A </a:t>
            </a:r>
            <a:r>
              <a:rPr lang="hu-HU" sz="2000" dirty="0" err="1"/>
              <a:t>mutate</a:t>
            </a:r>
            <a:r>
              <a:rPr lang="hu-HU" sz="2000" dirty="0"/>
              <a:t>() függvény finomhangolása:</a:t>
            </a:r>
          </a:p>
          <a:p>
            <a:pPr lvl="1"/>
            <a:r>
              <a:rPr lang="hu-HU" sz="1800" dirty="0"/>
              <a:t>„Jobb” kártyák keresése</a:t>
            </a:r>
          </a:p>
          <a:p>
            <a:pPr lvl="1"/>
            <a:r>
              <a:rPr lang="hu-HU" sz="1800" dirty="0"/>
              <a:t>„</a:t>
            </a:r>
            <a:r>
              <a:rPr lang="hu-HU" sz="1800" dirty="0" err="1"/>
              <a:t>Package</a:t>
            </a:r>
            <a:r>
              <a:rPr lang="hu-HU" sz="1800" dirty="0"/>
              <a:t>”-ek cserélése</a:t>
            </a:r>
          </a:p>
          <a:p>
            <a:r>
              <a:rPr lang="hu-HU" sz="2000" dirty="0"/>
              <a:t>Szimulációs környezet pontosítása:</a:t>
            </a:r>
          </a:p>
          <a:p>
            <a:pPr lvl="1"/>
            <a:r>
              <a:rPr lang="hu-HU" sz="1800" dirty="0"/>
              <a:t>Mini szimulátor pontosítása</a:t>
            </a:r>
          </a:p>
          <a:p>
            <a:pPr lvl="1"/>
            <a:r>
              <a:rPr lang="hu-HU" sz="1800" dirty="0"/>
              <a:t>Jelenleg egy voltaképpen heurisztikus kombinációját használja a mini szimulációnak és a </a:t>
            </a:r>
            <a:r>
              <a:rPr lang="hu-HU" sz="1800" dirty="0" err="1"/>
              <a:t>Forge-nak</a:t>
            </a:r>
            <a:endParaRPr lang="hu-HU" sz="1800" dirty="0"/>
          </a:p>
          <a:p>
            <a:pPr lvl="1"/>
            <a:r>
              <a:rPr lang="hu-HU" sz="1800" dirty="0"/>
              <a:t>A kettő megfelelő kombinációján még el lehetne gondolkodni</a:t>
            </a:r>
          </a:p>
        </p:txBody>
      </p:sp>
    </p:spTree>
    <p:extLst>
      <p:ext uri="{BB962C8B-B14F-4D97-AF65-F5344CB8AC3E}">
        <p14:creationId xmlns:p14="http://schemas.microsoft.com/office/powerpoint/2010/main" val="3193028614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</TotalTime>
  <Words>520</Words>
  <Application>Microsoft Office PowerPoint</Application>
  <PresentationFormat>Szélesvásznú</PresentationFormat>
  <Paragraphs>79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Dimenzió</vt:lpstr>
      <vt:lpstr>Adattudomány Projekt Bemutató:</vt:lpstr>
      <vt:lpstr>Célkitűzés</vt:lpstr>
      <vt:lpstr>Felhasznált adatok</vt:lpstr>
      <vt:lpstr>Versenyeredmények klaszterezése</vt:lpstr>
      <vt:lpstr>Klaszterek kiértékelése</vt:lpstr>
      <vt:lpstr>Kiindulási pont keresése</vt:lpstr>
      <vt:lpstr>Fő módszer: Simulated Annealing</vt:lpstr>
      <vt:lpstr>Hogy néz ki ez ebben az esetben</vt:lpstr>
      <vt:lpstr>A mutate() függvény</vt:lpstr>
      <vt:lpstr>Az evaluate() függvény</vt:lpstr>
      <vt:lpstr>Minisim evaluáció</vt:lpstr>
      <vt:lpstr>Eredmények</vt:lpstr>
      <vt:lpstr>További fejlesztési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Vince</dc:creator>
  <cp:lastModifiedBy>Nagy Vince</cp:lastModifiedBy>
  <cp:revision>16</cp:revision>
  <dcterms:created xsi:type="dcterms:W3CDTF">2026-05-13T23:59:07Z</dcterms:created>
  <dcterms:modified xsi:type="dcterms:W3CDTF">2026-05-24T18:21:10Z</dcterms:modified>
</cp:coreProperties>
</file>